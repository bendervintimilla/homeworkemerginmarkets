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APT35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(CHARMING KITTEN / PHOSPHORUS)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Systems - Final Project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|  Master of Computer Science &amp; Business Technology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  ·  Mattia  ·  Joyce  ·  Juan David  ·  Pablo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Iranian Nexus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 Eskafi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60320"/>
            <a:ext cx="3657600" cy="18288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54864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51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Attribution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Iranian state-linked APT, active since 2011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intelligence collection &amp; strategic influence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Charming Kitten  |  Phosphorus  |  Mint Sandstorm  |  ITG18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749040" cy="18288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560320"/>
            <a:ext cx="54864" cy="1828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651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APT35 Matters Now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cyber operations with social engineering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people first, systems second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APT35 is not noisy or destructive — it is patient, targeted, and strategic.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TARGETING &amp; TACTICS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651760" cy="3200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Activists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dissidents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651760" cy="3200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914400"/>
            <a:ext cx="265176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Targets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&amp; diplomats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tanks &amp; policy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Telecom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Nuclear research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51760" cy="3200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6517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Tactics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first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personas (journalists, academics)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Trust-building over time</a:t>
            </a:r>
            <a:endParaRPr lang="en-US" sz="12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Patient, targeted, strategic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Attack Lifecycle + Threat Scenario  |  Mandiant Analysis — 2017 Energy Company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Rosales &amp; Juan David Vintimilla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APT35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T1566.002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SPEARPHISHING LINK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legitimate-looking email. Goal: get victim to click a link leading to payload delivery or credential theft. Low cost, high success, easy to personalize.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77724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T1189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DRIVE-BY COMPROMISE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Lure hosted on a compromised legitimate website. Victim trusts the site and clicks — malicious content delivered. Bypasses reputation-based defenses.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777240"/>
            <a:ext cx="20116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 ACCOUNTS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to log in normally (VPN / O365). Blends in as legitimate user activity. Bypasses controls unless MFA and anomaly detection are strong.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77724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 CREDENTIAL DUMPING: LSASS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credentials from LSASS on Windows systems. Enables scaling access across a domain environment. Tooling: Mimikatz automates extraction.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APT35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T1569.002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EXECUTION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execution by creating/abusing services on other hosts. Enables lateral movement and mass execution. Uses PsExec: fast, commonly permitted in enterprise.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777240"/>
            <a:ext cx="20116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T1098.002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ADDITIONAL EMAIL DELEGATE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mailbox permissions instead of deploying malware. Compromised account gains access to multiple mailboxes. Stealthy: uses legitimate admin functionality.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777240"/>
            <a:ext cx="201168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COLLECTION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email at scale for intelligence/data theft. Access and exfiltrate from hundreds of mailboxes. High-value collection with minimal additional malware.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777240"/>
            <a:ext cx="201168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777240"/>
            <a:ext cx="201168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1005840"/>
            <a:ext cx="1737360" cy="320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T1070.004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DELETION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tools/artifacts after use (e.g., Mimikatz binary). Reduces forensic evidence available. Complicates detection and incident response reconstruction.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APT35 SOFTWARE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8686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932688"/>
            <a:ext cx="1280160" cy="27432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932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S0192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34640" y="896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Pupy (PupyRAT)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12801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RAT/backdoor used for remote access and control once executed on a host.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828800"/>
            <a:ext cx="54864" cy="8686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71600" y="1938528"/>
            <a:ext cx="1280160" cy="27432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5" name="Text 11"/>
          <p:cNvSpPr/>
          <p:nvPr/>
        </p:nvSpPr>
        <p:spPr>
          <a:xfrm>
            <a:off x="137160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83464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Mimikatz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71600" y="2286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dumping tool used to extract credentials from Windows — commonly tied to LSASS dumping.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834640"/>
            <a:ext cx="54864" cy="8686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371600" y="2944368"/>
            <a:ext cx="1280160" cy="27432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2" name="Text 17"/>
          <p:cNvSpPr/>
          <p:nvPr/>
        </p:nvSpPr>
        <p:spPr>
          <a:xfrm>
            <a:off x="137160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S0029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83464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PsExec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71600" y="32918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Sysinternals remote execution utility used to run commands/batch files on remote Windows hosts.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840480"/>
            <a:ext cx="54864" cy="8686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411480" cy="4114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371600" y="3950208"/>
            <a:ext cx="1280160" cy="27432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9" name="Text 23"/>
          <p:cNvSpPr/>
          <p:nvPr/>
        </p:nvSpPr>
        <p:spPr>
          <a:xfrm>
            <a:off x="1371600" y="3950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T1059.001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83464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371600" y="4297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execution method: used to run commands, administrative actions, and Exchange cmdlets like Add-MailboxPermission.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LIFECYCLE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Walkthrough — 7-Phase Breach Scenario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Vintimilla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60320"/>
            <a:ext cx="7863840" cy="13716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31089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company employee receives tailored recruiting email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credential theft, email intelligence collection, forensic evasion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137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PHASES 1–4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9144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850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ACCESS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868680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T1566.002 · T1189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4592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Spearphishing link to compromised legitimate website. Victim trusts domain — RAT (PupyRAT) delivered via resume lure.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9659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4592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FOOTHOLD &amp; PERSISTENCE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43600" y="1920240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S0192 · BROKEYOLK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4592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 establishes C2 channel. Additional custom backdoor (BROKEYOLK) ensures persistent access. No noisy exploits.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1752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4592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 ACCESS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943600" y="2971800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7" name="Text 22"/>
          <p:cNvSpPr/>
          <p:nvPr/>
        </p:nvSpPr>
        <p:spPr>
          <a:xfrm>
            <a:off x="594360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T1003.001 · S0002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645920" y="3291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LSASS memory dumped via Mimikatz. Domain-level credentials harvested — enabling broad authentication.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6"/>
          <p:cNvSpPr/>
          <p:nvPr/>
        </p:nvSpPr>
        <p:spPr>
          <a:xfrm>
            <a:off x="64008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06908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64592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BLEND IN (VALID ACCOUNTS)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5943600" y="4023360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5" name="Text 29"/>
          <p:cNvSpPr/>
          <p:nvPr/>
        </p:nvSpPr>
        <p:spPr>
          <a:xfrm>
            <a:off x="5943600" y="4023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T1078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645920" y="4343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used to log into VPN and O365 as a legitimate employee. Traffic looks completely normal.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137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PHASES 5–7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54864" cy="8686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50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88696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832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LATERAL MOVEMENT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850392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850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T1569.002 · S0029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45920" y="11612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PsExec deploys batch files running Mimikatz across multiple systems via service execution. Access scales exponentially.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178308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92808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45920" y="1837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MAILBOX COLLECTION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43600" y="1856232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T1098.002 · T1114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45920" y="21671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permissions manipulated via PowerShell. Hundreds of mailboxes accessed through OWA — no additional malware needed.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788920"/>
            <a:ext cx="54864" cy="868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9864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4592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CLEANUP &amp; EVASION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943600" y="2862072"/>
            <a:ext cx="2468880" cy="25603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7" name="Text 22"/>
          <p:cNvSpPr/>
          <p:nvPr/>
        </p:nvSpPr>
        <p:spPr>
          <a:xfrm>
            <a:off x="5943600" y="2862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T1070.004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645920" y="31729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Mimikatz binaries and artifacts deleted from remote systems. Forensic reconstruction severely hindered.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Text 26"/>
          <p:cNvSpPr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CHAIN MAPPING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73152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3152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31520" y="4535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T1566.002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205740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Exploit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205740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2057400" y="4535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T1189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338328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338328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3383280" y="4535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S0192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470916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470916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2-5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4709160" y="4535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Enables scaling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603504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Exfil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03504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6035040" y="4535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T1098+T1114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7360920" y="4160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736092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7360920" y="4535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T1070.004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IMPACT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 Failures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IMPACT: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THE APT35 BLAST RADIUS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Exposure (T1003)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LSASS dumping turned a single compromise into domain-wide risk (500+ systems).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Deception (T1078)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account abuse rendered authentication policies ineffective.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Control Plane Abuse (T1098.002)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8016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intelligence collection via legitimate Exchange delegation.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Erosion (T1070.004)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28016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artifact deletion hindered incident reconstruction.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was a systematic abuse of trust, not just a malware infection.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VS.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Enforcement of Access Control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2057400"/>
            <a:ext cx="54864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policies existed, but Conditional Access (location/travel) was not technically enforced.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Technical Implementation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057400"/>
            <a:ext cx="548640" cy="274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required "authorized access," but lacked Just-In-Time (JIT) elevation for high-impact admin tasks.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6517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Execution Failures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2057400"/>
            <a:ext cx="548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on tools like PsExec were documented but not technically blocked on user workstations.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failed because policy intent was not translated into enforceable technical controls.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ACCOUNTABILITY FAILURES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OWNERSHIP &amp; RESPONSE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ASSET OWNERSHIP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08760" y="2057400"/>
            <a:ext cx="54864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"Data Owner" responsible for auditing mailbox delegation changes.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FAILURE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0574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user accounts retained the capability to execute administrative-level remote tools.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6517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AUTHORITY GAPS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2057400"/>
            <a:ext cx="548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lacked the clear authority to contain the attack during lateral movement.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defined ownership and escalation authority, detection without response is meaningless.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OVERSIGHT GAPS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VISIBILITY WITHOUT 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Bias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2057400"/>
            <a:ext cx="54864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was biased toward malware detection, allowing "Living-off-the-Land" (PowerShell/OWA) to blend 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Logging vs. Auditing Gap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057400"/>
            <a:ext cx="548640" cy="274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technical data was captured (success). Auditing: governance failed to mandate review of anomalous mailbox changes (failure).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30175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6517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Ineffectiveness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2057400"/>
            <a:ext cx="548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were "visible" but not "interpreted" in a risk context.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analysis is noise. Controls without context are theater.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AS THE PRIMARY VULNERABILITY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adversary didn't break in —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logged in.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was the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vulnerability.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7772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4864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Malware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relied on legitimate enterprise tools (Exchange, PowerShell, Identity).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023360" cy="7772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11680"/>
            <a:ext cx="54864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Failure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failed to constrain trusted systems within a "Zero Trust" framework.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7772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54864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failure occurs when policy, accountability, and oversight fail to keep pace with adversary exploitation.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DEFENSE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Organizational Resilience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60320"/>
            <a:ext cx="7863840" cy="128016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54864" cy="128016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THESIS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31089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APT35 succeeds by abusing trust — not by deploying loud malware. The defense must be equally trust-focused: lock down identity, govern admin actions, monitor behavior, and make oversight enforceable.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DEFENSIVE PRIORITIES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39776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 IDENTITY-CENTRIC SECURITY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"Valid Accounts" from being a free pass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37360"/>
            <a:ext cx="54864" cy="137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MFA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/ passkeys for all remote and admin access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468880"/>
            <a:ext cx="54864" cy="137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423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Enforcement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risky logins: new devices, impossible travel, unmanaged endpoints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200400"/>
            <a:ext cx="54864" cy="137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Credential Monitoring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credential exposure, unusual token use, MFA fatigue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777240"/>
            <a:ext cx="393192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777240"/>
            <a:ext cx="54864" cy="39776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6012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B. GOVERNANCE &amp; OVERSIGHT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8348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actions require ownership &amp; approval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937760" y="1737360"/>
            <a:ext cx="54864" cy="137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0"/>
          <p:cNvSpPr/>
          <p:nvPr/>
        </p:nvSpPr>
        <p:spPr>
          <a:xfrm>
            <a:off x="512064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Control Ownership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206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accountable owners for identity, endpoint admin, and email systems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937760" y="2468880"/>
            <a:ext cx="54864" cy="137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3"/>
          <p:cNvSpPr/>
          <p:nvPr/>
        </p:nvSpPr>
        <p:spPr>
          <a:xfrm>
            <a:off x="5120640" y="2423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+ Just-In-Time Admin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12064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elevation, approvals for sensitive actions (mailbox delegation, roles)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937760" y="3200400"/>
            <a:ext cx="54864" cy="137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6"/>
          <p:cNvSpPr/>
          <p:nvPr/>
        </p:nvSpPr>
        <p:spPr>
          <a:xfrm>
            <a:off x="512064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Escalation Paths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12064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must isolate accounts/systems immediately when identity trust is broken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DEFENSIVE PRIORITIES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3977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C. DETECTION &amp; RESPONSE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malware detection to behavior detection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37360"/>
            <a:ext cx="54864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Monitoring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patterns: delegate permissions + bulk reads, PsExec bursts, credential dumping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468880"/>
            <a:ext cx="54864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423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Traffic Inspection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M365/Exchange analysis — suspicious admin cmdlets flagged in real-time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200400"/>
            <a:ext cx="54864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→ Enforced Auditing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wasn't missing logs — it was missing mandated review and alerting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777240"/>
            <a:ext cx="3931920" cy="397764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777240"/>
            <a:ext cx="54864" cy="39776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6012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D. COMPLIANCE &amp; ASSURANCE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8348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controls work — regularly, with evidence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937760" y="1737360"/>
            <a:ext cx="54864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0"/>
          <p:cNvSpPr/>
          <p:nvPr/>
        </p:nvSpPr>
        <p:spPr>
          <a:xfrm>
            <a:off x="512064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Control Testing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206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+ technical validation for the full phishing to mailbox abuse lifecycle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937760" y="2377440"/>
            <a:ext cx="54864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3"/>
          <p:cNvSpPr/>
          <p:nvPr/>
        </p:nvSpPr>
        <p:spPr>
          <a:xfrm>
            <a:off x="512064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Admin Audits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12064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review of mailbox delegation, role assignments, CA exceptions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937760" y="3108960"/>
            <a:ext cx="3474720" cy="9144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29184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4924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E. COMMUNICATION &amp; TRUST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937760" y="3657600"/>
            <a:ext cx="54864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28"/>
          <p:cNvSpPr/>
          <p:nvPr/>
        </p:nvSpPr>
        <p:spPr>
          <a:xfrm>
            <a:off x="5120640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Comms Playbooks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120640" y="3822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when, and who approves — no delays during active intrusion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937760" y="4160520"/>
            <a:ext cx="54864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1"/>
          <p:cNvSpPr/>
          <p:nvPr/>
        </p:nvSpPr>
        <p:spPr>
          <a:xfrm>
            <a:off x="5120640" y="4114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Assurance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120640" y="4325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concrete actions tied to observed attack methods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Defending against APT35 requires aligning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people, process, and technology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097280" y="3291840"/>
            <a:ext cx="2286000" cy="11887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3291840"/>
            <a:ext cx="2286000" cy="36576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474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64592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identity as the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perimeter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0" y="3291840"/>
            <a:ext cx="2286000" cy="11887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0" y="3291840"/>
            <a:ext cx="2286000" cy="36576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4747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20624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high-impact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actions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17920" y="3291840"/>
            <a:ext cx="2286000" cy="1188720"/>
          </a:xfrm>
          <a:prstGeom prst="rect">
            <a:avLst/>
          </a:prstGeom>
          <a:solidFill>
            <a:srgbClr val="111B2B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32918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4747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76656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behavior —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malware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1440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|  Andres · Mattia · Joyce · Juan David · Pablo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APT35 - Charming Kitten / Phosphorus</dc:title>
  <dc:subject>PptxGenJS Presentation</dc:subject>
  <dc:creator>Group 7</dc:creator>
  <cp:lastModifiedBy>Group 7</cp:lastModifiedBy>
  <cp:revision>1</cp:revision>
  <dcterms:created xsi:type="dcterms:W3CDTF">2026-02-12T16:58:49Z</dcterms:created>
  <dcterms:modified xsi:type="dcterms:W3CDTF">2026-02-12T16:58:49Z</dcterms:modified>
</cp:coreProperties>
</file>